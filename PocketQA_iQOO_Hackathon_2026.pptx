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765c70b49b46cd" /><Relationship Type="http://schemas.openxmlformats.org/officeDocument/2006/relationships/extended-properties" Target="/docProps/app.xml" Id="Rff2a110dd031426d" /><Relationship Type="http://schemas.openxmlformats.org/officeDocument/2006/relationships/officeDocument" Target="/ppt/presentation.xml" Id="Rceb75a5c4e8b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018604b6f44f5"/>
  </p:sldMasterIdLst>
  <p:notesMasterIdLst>
    <p:notesMasterId xmlns:r="http://schemas.openxmlformats.org/officeDocument/2006/relationships" r:id="Rfccbbbcc002a487c"/>
  </p:notesMasterIdLst>
  <p:sldIdLst>
    <p:sldId xmlns:r="http://schemas.openxmlformats.org/officeDocument/2006/relationships" id="256" r:id="R0342a81ef89340c6"/>
    <p:sldId xmlns:r="http://schemas.openxmlformats.org/officeDocument/2006/relationships" id="257" r:id="Receb317c5f2e464a"/>
    <p:sldId xmlns:r="http://schemas.openxmlformats.org/officeDocument/2006/relationships" id="258" r:id="Raf55ab1caef24dbf"/>
    <p:sldId xmlns:r="http://schemas.openxmlformats.org/officeDocument/2006/relationships" id="259" r:id="R45bd0ceb475c4f42"/>
    <p:sldId xmlns:r="http://schemas.openxmlformats.org/officeDocument/2006/relationships" id="260" r:id="R46f89edb327d4e3d"/>
    <p:sldId xmlns:r="http://schemas.openxmlformats.org/officeDocument/2006/relationships" id="261" r:id="Rc3750df1a2b24750"/>
    <p:sldId xmlns:r="http://schemas.openxmlformats.org/officeDocument/2006/relationships" id="262" r:id="Rbeedffa9a6184b4e"/>
    <p:sldId xmlns:r="http://schemas.openxmlformats.org/officeDocument/2006/relationships" id="263" r:id="R08551c64b43c4a97"/>
    <p:sldId xmlns:r="http://schemas.openxmlformats.org/officeDocument/2006/relationships" id="264" r:id="R195e79bef0c5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e646b55fb4bc7" /><Relationship Type="http://schemas.openxmlformats.org/officeDocument/2006/relationships/slideMaster" Target="/ppt/slideMasters/slideMaster1.xml" Id="R6a1018604b6f44f5" /><Relationship Type="http://schemas.openxmlformats.org/officeDocument/2006/relationships/notesMaster" Target="/ppt/notesMasters/notesMaster1.xml" Id="Rfccbbbcc002a487c" /><Relationship Type="http://schemas.openxmlformats.org/officeDocument/2006/relationships/presProps" Target="/ppt/presProps.xml" Id="R17eacf1bbecb4394" /><Relationship Type="http://schemas.openxmlformats.org/officeDocument/2006/relationships/tableStyles" Target="/ppt/tableStyles.xml" Id="Rfec6f1b2b472468a" /><Relationship Type="http://schemas.openxmlformats.org/officeDocument/2006/relationships/slide" Target="/ppt/slides/slide1.xml" Id="R0342a81ef89340c6" /><Relationship Type="http://schemas.openxmlformats.org/officeDocument/2006/relationships/slide" Target="/ppt/slides/slide2.xml" Id="Receb317c5f2e464a" /><Relationship Type="http://schemas.openxmlformats.org/officeDocument/2006/relationships/slide" Target="/ppt/slides/slide3.xml" Id="Raf55ab1caef24dbf" /><Relationship Type="http://schemas.openxmlformats.org/officeDocument/2006/relationships/slide" Target="/ppt/slides/slide4.xml" Id="R45bd0ceb475c4f42" /><Relationship Type="http://schemas.openxmlformats.org/officeDocument/2006/relationships/slide" Target="/ppt/slides/slide5.xml" Id="R46f89edb327d4e3d" /><Relationship Type="http://schemas.openxmlformats.org/officeDocument/2006/relationships/slide" Target="/ppt/slides/slide6.xml" Id="Rc3750df1a2b24750" /><Relationship Type="http://schemas.openxmlformats.org/officeDocument/2006/relationships/slide" Target="/ppt/slides/slide7.xml" Id="Rbeedffa9a6184b4e" /><Relationship Type="http://schemas.openxmlformats.org/officeDocument/2006/relationships/slide" Target="/ppt/slides/slide8.xml" Id="R08551c64b43c4a97" /><Relationship Type="http://schemas.openxmlformats.org/officeDocument/2006/relationships/slide" Target="/ppt/slides/slide9.xml" Id="R195e79bef0c5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1a381b4ae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23869d4174854" /><Relationship Type="http://schemas.openxmlformats.org/officeDocument/2006/relationships/notesMaster" Target="/ppt/notesMasters/notesMaster1.xml" Id="Rdb1460c27dcd42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78e534721b4ef2" /><Relationship Type="http://schemas.openxmlformats.org/officeDocument/2006/relationships/notesMaster" Target="/ppt/notesMasters/notesMaster1.xml" Id="R005ac064bc2f4c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7d6bc87c04092" /><Relationship Type="http://schemas.openxmlformats.org/officeDocument/2006/relationships/notesMaster" Target="/ppt/notesMasters/notesMaster1.xml" Id="R7300637ab62543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d6180d108a4265" /><Relationship Type="http://schemas.openxmlformats.org/officeDocument/2006/relationships/notesMaster" Target="/ppt/notesMasters/notesMaster1.xml" Id="R6b578140e0a4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b53a87a3d3450d" /><Relationship Type="http://schemas.openxmlformats.org/officeDocument/2006/relationships/notesMaster" Target="/ppt/notesMasters/notesMaster1.xml" Id="Rc1a721e79e5742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124996dc6d4f78" /><Relationship Type="http://schemas.openxmlformats.org/officeDocument/2006/relationships/notesMaster" Target="/ppt/notesMasters/notesMaster1.xml" Id="Rfb0a60f0a3aa4a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09f247b6a94027" /><Relationship Type="http://schemas.openxmlformats.org/officeDocument/2006/relationships/notesMaster" Target="/ppt/notesMasters/notesMaster1.xml" Id="Rd99679d3cbae4b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283539cfd4eba" /><Relationship Type="http://schemas.openxmlformats.org/officeDocument/2006/relationships/notesMaster" Target="/ppt/notesMasters/notesMaster1.xml" Id="Raffa5a6e118d49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4e3a5acf7a4974" /><Relationship Type="http://schemas.openxmlformats.org/officeDocument/2006/relationships/notesMaster" Target="/ppt/notesMasters/notesMaster1.xml" Id="R6a9d0d0bb5e1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core promise: PocketQA converts a real demonstration into a reusable test, with the phone as both the authoring and inference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https://iqoo.reskilll.com/guide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pain from our own mobile delivery experience. Avoid market-size claims; the strength is founder–problem fit and a crisp workflow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Emphasise that the model proposes; the human approves; replay stays deterministic. This avoids unsafe autonomous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Phase 1 clickable prototype. The video can follow the same three-beat arc: speak the expected result, demonstrate the bug, export the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that no AI testing tools exist. The defensible wedge is human-demonstrated intent, local semantic compilation and portable deterministic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https://docs.maestro.dev/maestro-studio/run-tests-with-maestro-studio</a:t>
            </a:r>
          </a:p>
          <a:p xmlns:a="http://schemas.openxmlformats.org/drawingml/2006/main">
            <a:r>
              <a:t>- https://firebase.google.com/docs/test-lab/android/robo-ux-test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real AI depth: multimodal perception, planning, local memory and tool selection. Reliability comes from the policy gate and deterministic executor, not from pretending the model is always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https://developer.android.com/ai/overview</a:t>
            </a:r>
          </a:p>
          <a:p xmlns:a="http://schemas.openxmlformats.org/drawingml/2006/main">
            <a:r>
              <a:t>- https://developers.google.com/ml-kit/genai</a:t>
            </a:r>
          </a:p>
          <a:p xmlns:a="http://schemas.openxmlformats.org/drawingml/2006/main">
            <a:r>
              <a:t>- https://developer.android.com/reference/android/accessibilityservice/AccessibilityService</a:t>
            </a:r>
          </a:p>
          <a:p xmlns:a="http://schemas.openxmlformats.org/drawingml/2006/main">
            <a:r>
              <a:t>- https://docs.sarvam.ai/api/api-guides-tutorials/speech-to-text/streaming-api</a:t>
            </a:r>
          </a:p>
          <a:p xmlns:a="http://schemas.openxmlformats.org/drawingml/2006/main">
            <a:r>
              <a:t>- https://developers.openai.com/api/reference/cli/resources/beta/subresources/responses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a roadmap, not a claim that every agent will be complete on day one. AppFunctions is experimental and Android Computer Control is currently limited to OEM-preloaded assistants, making both credible platform bets rather than MVP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https://developer.android.com/ai/appfunctions</a:t>
            </a:r>
          </a:p>
          <a:p xmlns:a="http://schemas.openxmlformats.org/drawingml/2006/main">
            <a:r>
              <a:t>- https://developer.android.com/ai/computer-control</a:t>
            </a:r>
          </a:p>
          <a:p xmlns:a="http://schemas.openxmlformats.org/drawingml/2006/main">
            <a:r>
              <a:t>- https://developer.android.com/guide/topics/ui/accessibility/service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keeps the ambition without gambling the submission. Finish the authoring path, then add the Explorer as the memorable agentic extension; every other agent is a stretch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https://iqoo.reskilll.com/</a:t>
            </a:r>
          </a:p>
          <a:p xmlns:a="http://schemas.openxmlformats.org/drawingml/2006/main">
            <a:r>
              <a:t>- https://iqoo.reskilll.com/guide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progression rather than the team biography. The live proof is still concrete: compile one test offline, then show one bounded exploration 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https://developer.android.com/ai/overview</a:t>
            </a:r>
          </a:p>
          <a:p xmlns:a="http://schemas.openxmlformats.org/drawingml/2006/main">
            <a:r>
              <a:t>- https://developer.android.com/ai/appfunctions</a:t>
            </a:r>
          </a:p>
          <a:p xmlns:a="http://schemas.openxmlformats.org/drawingml/2006/main">
            <a:r>
              <a:t>- https://iqoo.reskilll.com/guide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8580b17b4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8e4aa4c5b4c24" /><Relationship Type="http://schemas.openxmlformats.org/officeDocument/2006/relationships/slideLayout" Target="/ppt/slideLayouts/slideLayout1.xml" Id="Rff67ae049e8b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7ae049e8b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0ea08735945d5" /><Relationship Type="http://schemas.openxmlformats.org/officeDocument/2006/relationships/image" Target="/ppt/media/image.png" Id="R13a0aa0a46ff443f" /><Relationship Type="http://schemas.openxmlformats.org/officeDocument/2006/relationships/notesSlide" Target="/ppt/notesSlides/notesSlide1.xml" Id="R0f0ab6de86e341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82a1e12ea4520" /><Relationship Type="http://schemas.openxmlformats.org/officeDocument/2006/relationships/notesSlide" Target="/ppt/notesSlides/notesSlide2.xml" Id="Re92de58a3476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ffe9e63974a1f" /><Relationship Type="http://schemas.openxmlformats.org/officeDocument/2006/relationships/notesSlide" Target="/ppt/notesSlides/notesSlide3.xml" Id="Rca0df8bdf25b4e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a0c850fbc4f89" /><Relationship Type="http://schemas.openxmlformats.org/officeDocument/2006/relationships/image" Target="/ppt/media/image2.png" Id="R89a9ab15ea874b4f" /><Relationship Type="http://schemas.openxmlformats.org/officeDocument/2006/relationships/image" Target="/ppt/media/image3.png" Id="Rfade363433d74dab" /><Relationship Type="http://schemas.openxmlformats.org/officeDocument/2006/relationships/image" Target="/ppt/media/image4.png" Id="R3e31a0fee9cb4410" /><Relationship Type="http://schemas.openxmlformats.org/officeDocument/2006/relationships/notesSlide" Target="/ppt/notesSlides/notesSlide4.xml" Id="R16811d37baa5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87108f16f4614" /><Relationship Type="http://schemas.openxmlformats.org/officeDocument/2006/relationships/notesSlide" Target="/ppt/notesSlides/notesSlide5.xml" Id="Rd428292f16fc4e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fb5dca7f84884" /><Relationship Type="http://schemas.openxmlformats.org/officeDocument/2006/relationships/notesSlide" Target="/ppt/notesSlides/notesSlide6.xml" Id="R8020f30b302541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f7e18cfb449da" /><Relationship Type="http://schemas.openxmlformats.org/officeDocument/2006/relationships/image" Target="/ppt/media/image5.png" Id="R14577988d17e4268" /><Relationship Type="http://schemas.openxmlformats.org/officeDocument/2006/relationships/image" Target="/ppt/media/image6.png" Id="R0f5a23e4851c48ce" /><Relationship Type="http://schemas.openxmlformats.org/officeDocument/2006/relationships/notesSlide" Target="/ppt/notesSlides/notesSlide7.xml" Id="R9329b05338ba4a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e67933274877" /><Relationship Type="http://schemas.openxmlformats.org/officeDocument/2006/relationships/notesSlide" Target="/ppt/notesSlides/notesSlide8.xml" Id="R26f2b8903f2a42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d54d632244f6a" /><Relationship Type="http://schemas.openxmlformats.org/officeDocument/2006/relationships/image" Target="/ppt/media/image7.png" Id="Rd5eecd3663dc4062" /><Relationship Type="http://schemas.openxmlformats.org/officeDocument/2006/relationships/notesSlide" Target="/ppt/notesSlides/notesSlide9.xml" Id="Re80dff3f366743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518ED-CF3B-41BC-80A3-0EC4A68B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48"/>
          </a:solidFill>
          <a:ln xmlns:a="http://schemas.openxmlformats.org/drawingml/2006/main" w="0">
            <a:solidFill>
              <a:srgbClr val="C9FF4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02F8A-C0DD-411E-9487-F18C180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DEVELOPER TOOLS · iQOO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787B0-E805-466F-9EF6-DF65B03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PocketQA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045A6-1B83-4448-91FA-33F19496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Show a flow once.</a:t>
            </a:r>
          </a:p>
          <a:p xmlns:a="http://schemas.openxmlformats.org/drawingml/2006/main">
            <a:pPr algn="l">
              <a:defRPr sz="35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Ship the regression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86C49-4FF5-488D-A3FC-1D04857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A private, on-device AI test author—and safe QA agent—for mobile teams.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A6F83-C2BC-481B-91D8-B74C84BC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2209800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90C11"/>
          </a:solidFill>
          <a:ln xmlns:a="http://schemas.openxmlformats.org/drawingml/2006/main" w="0">
            <a:solidFill>
              <a:srgbClr val="090C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EC723-74B5-46E1-8F95-2FAF856D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ON-DEVICE AI · MOBILE 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E12CB-49A8-4572-9B80-FA48C58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Bengaluru City Battle · 29–30 Aug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94551-DD90-454C-BCC5-53857070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"/>
            <a:ext cx="4171950" cy="6000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90C11"/>
          </a:solidFill>
          <a:ln xmlns:a="http://schemas.openxmlformats.org/drawingml/2006/main" w="0">
            <a:solidFill>
              <a:srgbClr val="090C1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0aa0a46ff443f"/>
          <a:stretch xmlns:a="http://schemas.openxmlformats.org/drawingml/2006/main"/>
        </p:blipFill>
        <p:spPr>
          <a:xfrm xmlns:a="http://schemas.openxmlformats.org/drawingml/2006/main">
            <a:off x="7752515" y="581025"/>
            <a:ext cx="2649620" cy="573405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</p:spTree>
    <p:extLst>
      <p:ext uri="{BB962C8B-B14F-4D97-AF65-F5344CB8AC3E}">
        <p14:creationId xmlns:p14="http://schemas.microsoft.com/office/powerpoint/2010/main" val="190111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F937F-50A9-4B08-A058-A07B78F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88341-9E1E-409C-B018-A93E109C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Mobile teams know what to test. Authoring it is the bottleneck.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65C4E-AA9F-4FB8-B651-D0CF2BA4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4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4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C6A2D-27C4-4511-985A-32941A4E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495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“Make checkout work” is clear to a human—but not executable by CI.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10149-0585-43FF-AC50-2B826FB8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Small teams repeatedly choose between manual QA, brittle scripts, or cloud tools that do not understand the developer’s specific intent.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210300" y="1847850"/>
            <a:ext cx="508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D1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9D22A-2362-4058-AF5A-F83488C9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84053-029F-4C11-86E0-03E66331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57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Test intent stays trapped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0F701-5A0D-4155-BCEC-5954FB1B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574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Expected behaviour lives in tickets, voice notes and the developer’s head.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905625" y="31432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ECF43-18F7-416B-870E-5BB4A8B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04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89F8A-BA7B-4A30-87E3-830999E4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81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Automation takes specialist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D1DCB-985F-46B4-AB72-80A219A9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814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Selectors, waits and assertions must be authored and maintained manually.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905625" y="4467225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4AC50-D3F7-4E24-AD42-3A0B812A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24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8187C-883E-4BE2-BFA6-B7A35D78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05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Failures arrive without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D6234-8D59-4704-A461-3F5DB1C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054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A red CI run rarely contains the human intent and exact evidence together.</a:t>
            </a:r>
          </a:p>
        </p:txBody>
      </p:sp>
    </p:spTree>
    <p:extLst>
      <p:ext uri="{BB962C8B-B14F-4D97-AF65-F5344CB8AC3E}">
        <p14:creationId xmlns:p14="http://schemas.microsoft.com/office/powerpoint/2010/main" val="817107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C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21CB2-D7D3-4337-AC9E-AEF64B28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764D5-2837-4462-8C30-8B4992F0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PocketQA turns intent into a deterministic test in five moves.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CF25-8986-44D1-BF94-C4D33F4E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E89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9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114425" y="2400300"/>
            <a:ext cx="9658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424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F5892-9D91-407F-AA4F-3A3BE22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36"/>
          </a:solidFill>
          <a:ln xmlns:a="http://schemas.openxmlformats.org/drawingml/2006/main" w="9525">
            <a:solidFill>
              <a:srgbClr val="3945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6F312-C7B9-4D67-8BB1-659A06E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B4450-305C-40F7-B183-731C8F3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State what</a:t>
            </a:r>
          </a:p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should happen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8E95F-A4B4-4075-9BA8-CD5F410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14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36"/>
          </a:solidFill>
          <a:ln xmlns:a="http://schemas.openxmlformats.org/drawingml/2006/main" w="9525">
            <a:solidFill>
              <a:srgbClr val="3945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1ADDD-F376-4A4B-8D1B-A499FAFA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E7433-2A8C-4171-A52B-F82CAAC5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861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Demonstrate</a:t>
            </a:r>
          </a:p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the flow once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D2705-B855-4DF3-B6C8-A2F6873F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14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48"/>
          </a:solidFill>
          <a:ln xmlns:a="http://schemas.openxmlformats.org/drawingml/2006/main" w="9525">
            <a:solidFill>
              <a:srgbClr val="3945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58B59-3524-4B79-A92D-7024BD7C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7973D-E8C8-41D0-ADAC-7258BE3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Local AI creates</a:t>
            </a:r>
          </a:p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assertions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3F673-7FEF-43C8-949C-628951FC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14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36"/>
          </a:solidFill>
          <a:ln xmlns:a="http://schemas.openxmlformats.org/drawingml/2006/main" w="9525">
            <a:solidFill>
              <a:srgbClr val="3945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773A5-70FD-46BC-A4FF-E8862514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6FBA7-4B1D-4533-8E18-07400DC7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861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Human reviews</a:t>
            </a:r>
          </a:p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every 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323B9-C881-481A-B17F-4FC9625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14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36"/>
          </a:solidFill>
          <a:ln xmlns:a="http://schemas.openxmlformats.org/drawingml/2006/main" w="9525">
            <a:solidFill>
              <a:srgbClr val="3945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A664B-0D03-4588-ABD1-3429665D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3FF5D-D42B-4C21-A044-D569FA7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YAML + evidence</a:t>
            </a:r>
          </a:p>
          <a:p xmlns:a="http://schemas.openxmlformats.org/drawingml/2006/main">
            <a:pPr algn="ctr">
              <a:defRPr sz="1200" b="0">
                <a:solidFill>
                  <a:srgbClr val="A8B2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2C0"/>
                </a:solidFill>
                <a:latin typeface="Arial"/>
                <a:ea typeface="Arial"/>
                <a:cs typeface="Arial"/>
              </a:rPr>
              <a:t>to the laptop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69960-C8E2-4883-B6B4-922F026B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72025"/>
            <a:ext cx="10191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B35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390DB-8C3B-4A57-9126-C3F1F7E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23C41-6E80-452A-9377-0F33DDD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530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human walkthrough becomes a reviewable regression test, reproducible bug report and portable CI asset.</a:t>
            </a:r>
          </a:p>
        </p:txBody>
      </p:sp>
    </p:spTree>
    <p:extLst>
      <p:ext uri="{BB962C8B-B14F-4D97-AF65-F5344CB8AC3E}">
        <p14:creationId xmlns:p14="http://schemas.microsoft.com/office/powerpoint/2010/main" val="1738869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A21DC-4383-40EF-8DDB-C3BDC79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PROTOTYPE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485C7-2692-4AEC-AAAF-EFD6325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The core demo remains simple enough to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F4E5-7F5A-4152-9D40-C295018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4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4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7702E-A2E3-4D48-8EC3-6359F2F4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71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SAY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5FD38-5133-413A-826B-4B33A39E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71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38E0-1172-4BF9-AC21-8965530E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SHIP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9ab15ea874b4f"/>
          <a:stretch xmlns:a="http://schemas.openxmlformats.org/drawingml/2006/main"/>
        </p:blipFill>
        <p:spPr>
          <a:xfrm xmlns:a="http://schemas.openxmlformats.org/drawingml/2006/main">
            <a:off x="871075" y="1847850"/>
            <a:ext cx="2020225" cy="4371975"/>
          </a:xfrm>
          <a:prstGeom xmlns:a="http://schemas.openxmlformats.org/drawingml/2006/main" prst="roundRect">
            <a:avLst>
              <a:gd name="adj" fmla="val 7512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e363433d74dab"/>
          <a:stretch xmlns:a="http://schemas.openxmlformats.org/drawingml/2006/main"/>
        </p:blipFill>
        <p:spPr>
          <a:xfrm xmlns:a="http://schemas.openxmlformats.org/drawingml/2006/main">
            <a:off x="5062075" y="1847850"/>
            <a:ext cx="2020225" cy="4371975"/>
          </a:xfrm>
          <a:prstGeom xmlns:a="http://schemas.openxmlformats.org/drawingml/2006/main" prst="roundRect">
            <a:avLst>
              <a:gd name="adj" fmla="val 7512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1a0fee9cb4410"/>
          <a:stretch xmlns:a="http://schemas.openxmlformats.org/drawingml/2006/main"/>
        </p:blipFill>
        <p:spPr>
          <a:xfrm xmlns:a="http://schemas.openxmlformats.org/drawingml/2006/main">
            <a:off x="9224500" y="1847850"/>
            <a:ext cx="2020225" cy="4371975"/>
          </a:xfrm>
          <a:prstGeom xmlns:a="http://schemas.openxmlformats.org/drawingml/2006/main" prst="roundRect">
            <a:avLst>
              <a:gd name="adj" fmla="val 7512"/>
            </a:avLst>
          </a:prstGeom>
        </p:spPr>
      </p:pic>
      <p:cxnSp>
        <p:nvCxnSpPr>
          <p:cNvPr id="23" name=""/>
          <p:cNvCxnSpPr/>
          <p:nvPr/>
        </p:nvCxnSpPr>
        <p:spPr>
          <a:xfrm xmlns:a="http://schemas.openxmlformats.org/drawingml/2006/main">
            <a:off x="3286125" y="39624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DD643-0B8B-45E7-B4F9-7CCFE4B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90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48"/>
          </a:solidFill>
          <a:ln xmlns:a="http://schemas.openxmlformats.org/drawingml/2006/main" w="0">
            <a:solidFill>
              <a:srgbClr val="C9F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7467600" y="39624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D5A3C-6FA3-47AE-973F-01295C74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90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48"/>
          </a:solidFill>
          <a:ln xmlns:a="http://schemas.openxmlformats.org/drawingml/2006/main" w="0">
            <a:solidFill>
              <a:srgbClr val="C9F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96332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AD70D0-4DFA-46FC-B880-D9A3E83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CLEAR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77E3B-E946-4CB8-A280-83C5B978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PocketQA authors the test; existing tools can still run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55F0C-62B3-45F4-A0EA-94D2CAF5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4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49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E06EA-225C-4067-9C57-7AC6D591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143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A743F-9B27-466F-9604-575DF36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MAESTRO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15DA2-F10C-4A2C-B626-7B60A62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Test execution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F21BB-BB6F-499F-932E-B8AC3F34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143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CBBFE-0953-44DC-8A20-49AA1E6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1452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FIREBASE ROBO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2AE99-D3F5-4E9A-BF59-6916F1A6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Automated cloud exploration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21E9A-A1EE-4FB3-8462-E821431B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62125"/>
            <a:ext cx="3143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90C11"/>
          </a:solidFill>
          <a:ln xmlns:a="http://schemas.openxmlformats.org/drawingml/2006/main" w="0">
            <a:solidFill>
              <a:srgbClr val="090C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87A24-CCBF-4740-A294-5022266E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1452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POCKETQA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AE771-1E3B-4601-B874-33CBE776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6CF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6CFDA"/>
                </a:solidFill>
                <a:latin typeface="Arial"/>
                <a:ea typeface="Arial"/>
                <a:cs typeface="Arial"/>
              </a:rPr>
              <a:t>On-device semantic authoring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50DD3-A00C-4B18-B5F6-51A56D2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A2393-AA44-4F80-A6E4-DCE4259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336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Developer-authored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63F66-136E-445A-9FD4-C27DF03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336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APK + generic crawl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C1AD-3405-46C0-BA0B-C1FB6108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336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Human demo + spoken intent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47700" y="3248025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0F34F-B79F-496D-928F-FE903B84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UNDERSTANDING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6F043-3725-4AEA-ADD6-4183FBAF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90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Commands and selectors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F1730-E393-4551-837B-0B5C7EE0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90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UI hierarchy exploration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AE380-B06A-4AA0-B1E8-CB72876E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90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Expected outcome + screen state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647700" y="39052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633B8-454E-47D6-931C-9C06534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12021-2693-4793-A068-BE4ACEFE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Runner on device/emulator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5D271-FCFF-4558-96E8-0043990F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481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Cloud test infrastructure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43236-0C7F-4A1A-90CF-3E1E0F1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48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Local model on target phone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647700" y="4562475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93832-6199-48C9-A22B-2236D99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F9D8B-C3CE-4AAB-8C5E-DF9F046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Pass/fail + artifacts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119CC-C495-414C-880C-D3055127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05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Crawl graph + logs/video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26A21D-FAEC-4F4F-9ED7-7D00EE33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05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Approved test + bug evidence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647700" y="52197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5A7E2-23EA-4AE6-8350-4174BF6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RELATIONSHIP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7B4DF-744B-41C5-9922-443E674E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625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PocketQA can export to 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FE21B-7495-401B-9377-3EE397DA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625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Different coverage mode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AC81A-309B-46BE-8E77-B509E36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625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The authoring layer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647700" y="5876925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91143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C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7F7BA-5E97-4D52-9556-74502B80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HOW THE AI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CCEE-8BFA-4561-BA1A-B0875CF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agent can observe, plan, act and learn—inside explicit rails.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372F6-58AD-4228-8604-5D45A7F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E89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99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543050" y="2705100"/>
            <a:ext cx="842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4552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A4615-8493-4490-A585-213ADF45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24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41A22"/>
          </a:solidFill>
          <a:ln xmlns:a="http://schemas.openxmlformats.org/drawingml/2006/main" w="9525">
            <a:solidFill>
              <a:srgbClr val="2E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5B832-9795-4ED0-B4AA-5CB4D43B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2C1E5-B573-4DF1-852D-16788BE6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B4FB8-5803-4106-A1D9-7FAAA16D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Fuse screenshots, UI tree, OCR, timing and voice intent.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6AF2C-0F2F-404B-8839-182C5A32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66900"/>
            <a:ext cx="2324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23019"/>
          </a:solidFill>
          <a:ln xmlns:a="http://schemas.openxmlformats.org/drawingml/2006/main" w="9525">
            <a:solidFill>
              <a:srgbClr val="789D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F13E4-B7FF-45BA-BD1A-2129247A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43A69-719E-4A96-AE19-EEF83B05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29598-C823-4BCB-B2D4-9711111B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Compile goals into a state graph, assertions and bounded branches.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3CA66-5117-4023-AF0C-7C0E0161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66900"/>
            <a:ext cx="2324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41A22"/>
          </a:solidFill>
          <a:ln xmlns:a="http://schemas.openxmlformats.org/drawingml/2006/main" w="9525">
            <a:solidFill>
              <a:srgbClr val="2E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E7E2C-A5AC-4B5A-87BA-189EA1C3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484A6-6B17-4E54-B016-C8AC1FA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89077-6C16-4054-8976-6A8B033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Call approved UI actions; replay the saved test deterministically.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CE0D4-3078-45ED-AF73-12B02137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3241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41A22"/>
          </a:solidFill>
          <a:ln xmlns:a="http://schemas.openxmlformats.org/drawingml/2006/main" w="9525">
            <a:solidFill>
              <a:srgbClr val="2E39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41DF-44EA-46E6-9AD5-A1D933E8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7E7EE-D588-4D4A-B13D-20FA612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5B5DE-8FB8-4EB2-83CB-BD9F5FF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Store app vocabulary, approved fixes and test history locally.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8B604-1759-441E-A430-77087FBC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02108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131A"/>
          </a:solidFill>
          <a:ln xmlns:a="http://schemas.openxmlformats.org/drawingml/2006/main" w="9525">
            <a:solidFill>
              <a:srgbClr val="2D37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0BC0B-E2D9-488F-94B3-E3138BF7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SYSTEM MODEL · IF SUPPORTED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D76D9-208F-4DF3-AD6C-DCE7336C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Gemini Nano / ML Kit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5C585-964D-4CA4-9F21-9CFC06F8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Text + image prompting and speech through AICore on compatible devices.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B6B18-E815-407D-B265-D80E051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CUSTOM MODEL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6852F-1E9F-46AB-BE9A-50A2C770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529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Gemma / LiteRT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4DEB9-CB4B-424F-B715-98DE60A9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33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Portable local models, tuned prompts and strict test schemas.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17EAC-829E-4CA1-A5A9-B3C94316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CONNECTED BOOST · OPTIONAL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AFA09-193E-42B3-A085-E7A69EED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Sarvam + OpenAI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9A2E5-894B-47C3-9FE4-D31AB484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Indic voice plus complex-screen review, tools and JSON schemas.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CF02F-5E11-4ED4-A237-8B6B0A0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963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POLICY: the model proposes · the executor validates · guarded actions stop · every result leaves evidence</a:t>
            </a:r>
          </a:p>
        </p:txBody>
      </p:sp>
    </p:spTree>
    <p:extLst>
      <p:ext uri="{BB962C8B-B14F-4D97-AF65-F5344CB8AC3E}">
        <p14:creationId xmlns:p14="http://schemas.microsoft.com/office/powerpoint/2010/main" val="1606794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5611D-D622-4A4E-9EC7-74C06826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AGENTIC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89DCA-44DB-4B06-83D7-FD046979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One trusted loop can support six specialist agents.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7C07A-57E1-4EBF-A7FE-999D1BA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4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49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F35CC-EC11-4EB0-97F5-B665F31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BUILD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2F74A-FB15-4C74-A92B-AB254D5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Explorer — bounded state graph + branch search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Self-Heal — semantic selectors, never assertions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Failure Detective — replay, minimize and explain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52450" y="2943225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791F5-792B-44A3-9A70-55039575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SECOND WAVE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0DEE9-D9D4-4F07-81A3-45E1300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604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Edge-Case Generator — locale, network, state and input variants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Accessibility Auditor — labels, focus, large text and contrast</a:t>
            </a:r>
          </a:p>
          <a:p xmlns:a="http://schemas.openxmlformats.org/drawingml/2006/main">
            <a:pPr algn="l">
              <a:defRPr sz="1350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Local Memory — app vocabulary, approvals and test history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52450" y="4495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7EBE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91925-EE63-490B-97C8-CDB7240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PLATFORM BETS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5485E-A4E9-483B-8FCF-3845AB52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595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Android AppFunctions as local tools · OEM Computer Control · multi-device cooperative test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794A6-7ABB-4321-822B-65FEBE3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62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AGENT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9C9B1-F6E1-4A5D-A2C6-17832C60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562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MISSION CONTROL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77988d17e4268"/>
          <a:stretch xmlns:a="http://schemas.openxmlformats.org/drawingml/2006/main"/>
        </p:blipFill>
        <p:spPr>
          <a:xfrm xmlns:a="http://schemas.openxmlformats.org/drawingml/2006/main">
            <a:off x="7439025" y="1810532"/>
            <a:ext cx="1847850" cy="3998937"/>
          </a:xfrm>
          <a:prstGeom xmlns:a="http://schemas.openxmlformats.org/drawingml/2006/main" prst="roundRect">
            <a:avLst>
              <a:gd name="adj" fmla="val 8247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a23e4851c48ce"/>
          <a:stretch xmlns:a="http://schemas.openxmlformats.org/drawingml/2006/main"/>
        </p:blipFill>
        <p:spPr>
          <a:xfrm xmlns:a="http://schemas.openxmlformats.org/drawingml/2006/main">
            <a:off x="9525000" y="1810532"/>
            <a:ext cx="1847850" cy="3998937"/>
          </a:xfrm>
          <a:prstGeom xmlns:a="http://schemas.openxmlformats.org/drawingml/2006/main" prst="roundRect">
            <a:avLst>
              <a:gd name="adj" fmla="val 824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A7008-4961-40D9-BE61-4E2ABA09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4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Each agent is opt-in. High-risk actions remain outside the autonomous tool set.</a:t>
            </a:r>
          </a:p>
        </p:txBody>
      </p:sp>
    </p:spTree>
    <p:extLst>
      <p:ext uri="{BB962C8B-B14F-4D97-AF65-F5344CB8AC3E}">
        <p14:creationId xmlns:p14="http://schemas.microsoft.com/office/powerpoint/2010/main" val="1509713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432A3-CE36-4CE2-AFAA-65ADA07E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30-HOUR 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F7272-2630-41EB-8A12-F14F39B7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Finish the trusted loop before adding autonomy.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74D71-BA69-4F72-9A0D-71A4713C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4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49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914400" y="31242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D12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22A57-0643-4B23-90A3-A8B7FEE0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C11"/>
          </a:solidFill>
          <a:ln xmlns:a="http://schemas.openxmlformats.org/drawingml/2006/main" w="0">
            <a:solidFill>
              <a:srgbClr val="090C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714C-D263-4A32-81AC-7D173A74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GATE 1 · MUST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19E46-A719-4CAB-BC17-8663214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Authoring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4341C-AD25-4567-8BA2-78AC803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React Native shell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Screen + UI-tree capture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Intent → strict JSON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Human approval + YAML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699C0-58BE-4D37-A03E-7B10AB13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43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48"/>
          </a:solidFill>
          <a:ln xmlns:a="http://schemas.openxmlformats.org/drawingml/2006/main" w="0">
            <a:solidFill>
              <a:srgbClr val="C9F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BD08B-30FD-46D2-A899-1CC35F8B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38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671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6710"/>
                </a:solidFill>
                <a:latin typeface="Arial"/>
                <a:ea typeface="Arial"/>
                <a:cs typeface="Arial"/>
              </a:rPr>
              <a:t>GATE 2 · WINNING WOW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97E3E-395B-43A0-B653-9329C1B8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33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One safe Explorer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2935D-854A-4591-8E29-839B226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5760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Build a local state graph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Try one bounded branch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Stop before guarded action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Show novel-state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FC5DA-A521-4A03-896F-43ACC140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C11"/>
          </a:solidFill>
          <a:ln xmlns:a="http://schemas.openxmlformats.org/drawingml/2006/main" w="0">
            <a:solidFill>
              <a:srgbClr val="090C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7EC50-6EF1-40AF-8735-ADC9218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B79"/>
                </a:solidFill>
                <a:latin typeface="Arial"/>
                <a:ea typeface="Arial"/>
                <a:cs typeface="Arial"/>
              </a:rPr>
              <a:t>GATE 3 · ONLY IF STABLE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82180-7923-4595-B938-68AF7C7E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Specialist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0F1BF-7D79-4C74-B4F3-4190789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5760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Selector self-heal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Failure minimizer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Accessibility audit</a:t>
            </a:r>
          </a:p>
          <a:p xmlns:a="http://schemas.openxmlformats.org/drawingml/2006/main">
            <a:pPr algn="l">
              <a:defRPr sz="1350" b="0">
                <a:solidFill>
                  <a:srgbClr val="60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B79"/>
                </a:solidFill>
                <a:latin typeface="Arial"/>
                <a:ea typeface="Arial"/>
                <a:cs typeface="Arial"/>
              </a:rPr>
              <a:t>Indic connected voice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E8EB2-C42B-4304-A0DB-3EE9ABC8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63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8FB6A-C3C7-4DBC-8AE6-757C670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864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5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56F"/>
                </a:solidFill>
                <a:latin typeface="Arial"/>
                <a:ea typeface="Arial"/>
                <a:cs typeface="Arial"/>
              </a:rPr>
              <a:t>DEMO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0185B-21E5-4586-8F10-7502A3AC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619750"/>
            <a:ext cx="836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Agent mode stays an opt-in tab until the five-step authoring flow passes end to end.</a:t>
            </a:r>
          </a:p>
        </p:txBody>
      </p:sp>
    </p:spTree>
    <p:extLst>
      <p:ext uri="{BB962C8B-B14F-4D97-AF65-F5344CB8AC3E}">
        <p14:creationId xmlns:p14="http://schemas.microsoft.com/office/powerpoint/2010/main" val="933135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C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518D0-ECF1-49BA-82FF-FCEE17AB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48"/>
          </a:solidFill>
          <a:ln xmlns:a="http://schemas.openxmlformats.org/drawingml/2006/main" w="0">
            <a:solidFill>
              <a:srgbClr val="C9FF4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5010-4E33-4B86-85F1-82FD319C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PRODUCT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1F461-EDE6-411E-A50B-60D3063F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test authoring.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Grow into a private QA agent.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34353-09B6-4E16-801F-96CD80A3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1"/>
          </a:solidFill>
          <a:ln xmlns:a="http://schemas.openxmlformats.org/drawingml/2006/main" w="0">
            <a:solidFill>
              <a:srgbClr val="2B35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A9885-C4BA-407F-BAD4-DFC88F8A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E3BE4-0FF0-4D1E-A356-5F91CF26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66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intent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99BF5-1983-4259-AE29-594BDF8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Voice, demonstration and product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8C61F-8075-4477-AA30-A6FB970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A6131-29B9-4377-9D3C-C584AC8E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57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Bounded local agents explore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6ECA3-84B0-41FC-BF0E-46BC4A9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Visible plan, approved tools and hard stops.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0ABB5-00CD-465C-AF8C-D724997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F4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FF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E05F1-AA24-4371-8422-FAE0152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481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Deterministic evidence 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260AA-1A0E-4030-97F5-BDE7B5C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4C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4C1"/>
                </a:solidFill>
                <a:latin typeface="Arial"/>
                <a:ea typeface="Arial"/>
                <a:cs typeface="Arial"/>
              </a:rPr>
              <a:t>Reviewable assertions, replay and portable tests.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D7A8A-D849-4AEF-BF8E-01E9A4D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04850"/>
            <a:ext cx="3962400" cy="53721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B354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ecd3663dc4062"/>
          <a:stretch xmlns:a="http://schemas.openxmlformats.org/drawingml/2006/main"/>
        </p:blipFill>
        <p:spPr>
          <a:xfrm xmlns:a="http://schemas.openxmlformats.org/drawingml/2006/main">
            <a:off x="8341033" y="828675"/>
            <a:ext cx="2367933" cy="5124450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E3155-55D4-43B6-A3FD-4E85C52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D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DDFF"/>
                </a:solidFill>
                <a:latin typeface="Arial"/>
                <a:ea typeface="Arial"/>
                <a:cs typeface="Arial"/>
              </a:rPr>
              <a:t>AIRPLANE MODE · ONE BUG · ONE TEST · ONE SAFE EXPLORATION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C5FB9-E2FB-4FCD-9974-B93A937B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627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E89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899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7324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2026-08-23T17:24:51.8620000Z</dcterms:created>
  <dcterms:modified xsi:type="dcterms:W3CDTF">2026-08-23T17:24:51.8620000Z</dcterms:modified>
</coreProperties>
</file>